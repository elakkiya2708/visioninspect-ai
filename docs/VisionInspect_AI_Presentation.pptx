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22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1220"/>
                </a:solidFill>
                <a:latin typeface="Arial"/>
              </a:rPr>
              <a:t>Score weights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F46E5"/>
              </a:solidFill>
              <a:effectLst/>
            </c:spPr>
          </c:dPt>
          <c:dPt>
            <c:idx val="1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bubble3D val="0"/>
            <c:spPr>
              <a:solidFill>
                <a:srgbClr val="8B5CF6"/>
              </a:solidFill>
              <a:effectLst/>
            </c:spPr>
          </c:dPt>
          <c:dPt>
            <c:idx val="3"/>
            <c:bubble3D val="0"/>
            <c:spPr>
              <a:solidFill>
                <a:srgbClr val="10B981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Defect size</c:v>
                </c:pt>
                <c:pt idx="1">
                  <c:v>Location</c:v>
                </c:pt>
                <c:pt idx="2">
                  <c:v>Defect type</c:v>
                </c:pt>
                <c:pt idx="3">
                  <c:v>Confidence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30</c:v>
                </c:pt>
                <c:pt idx="1">
                  <c:v>25</c:v>
                </c:pt>
                <c:pt idx="2">
                  <c:v>25</c:v>
                </c:pt>
                <c:pt idx="3">
                  <c:v>20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22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1220"/>
                </a:solidFill>
                <a:latin typeface="Arial"/>
              </a:rPr>
              <a:t>Image-level detection metrics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metal plate</c:v>
                  </c:pt>
                  <c:pt idx="1">
                    <c:v>fabric</c:v>
                  </c:pt>
                  <c:pt idx="2">
                    <c:v>ceramic tile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0.9836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metal plate</c:v>
                  </c:pt>
                  <c:pt idx="1">
                    <c:v>fabric</c:v>
                  </c:pt>
                  <c:pt idx="2">
                    <c:v>ceramic tile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0.7333</c:v>
                </c:pt>
                <c:pt idx="2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metal plate</c:v>
                  </c:pt>
                  <c:pt idx="1">
                    <c:v>fabric</c:v>
                  </c:pt>
                  <c:pt idx="2">
                    <c:v>ceramic tile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</c:v>
                </c:pt>
                <c:pt idx="1">
                  <c:v>0.8462</c:v>
                </c:pt>
                <c:pt idx="2">
                  <c:v>0.9917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AUROC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metal plate</c:v>
                  </c:pt>
                  <c:pt idx="1">
                    <c:v>fabric</c:v>
                  </c:pt>
                  <c:pt idx="2">
                    <c:v>ceramic tile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</c:v>
                </c:pt>
                <c:pt idx="1">
                  <c:v>0.9994</c:v>
                </c:pt>
                <c:pt idx="2">
                  <c:v>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end-to-end platform that inspects product images, finds and classifies defects, scores severity and decides pass/review/rework/reject. Covers all four milestones.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business problem, then state the objective from the project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steps. Steps 4 and 5 are the AI core: anomaly detection and classification/severity scoring.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 frontend behind nginx, FastAPI backend with the inspection pipeline, PostgreSQL/SQLite, image store and a versioned model registry. The dataset feeds model 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Matches the stack in the project brief; the brief lists YOLO/TensorFlow/PyTorch as options — we use a lightweight OpenCV + scikit-learn model and keep a clean interface for swapping in deep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each milestone. Everything listed is implemented in the code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outputs on a synthetic brushed-metal plate: a crack (top row) and hole, stain, scratch (bottom row). The model never saw defects during 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Severity = 30% size + 25% location + 25% type + 20% confidence. Mention the arithmetic discrepancy in the brief: with the given weights the example is 90.2, not 88.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AUROC is at least 0.999 in every category. Fabric recall is lower because low-contrast dents (12 of 12) fall below the calibrated threshold. Synthetic data only; real MVTec AD results are the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Confusion matrix on 180 defective parts. The classifier was tuned on a different random seed than the test set. Holes and cracks are classified best; dents are weakest.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the thread pool gave no measurable speed-up on the single-core test machine (7.0 to 7.3 images/s); benefit on multi-core is expected but not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roles. Supervisors can approve/reject/rework flagged parts; every action is audited.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clearly whether you deployed to a cloud account. The guide documents AWS EC2 and Azure options; if you did not run a live cloud deployment, present it as documented and containerised rather than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upfront about limitations strengthens the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image" Target="../media/image-7-5.jpg"/><Relationship Id="rId6" Type="http://schemas.openxmlformats.org/officeDocument/2006/relationships/image" Target="../media/image-7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4572000" cy="4572000"/>
          </a:xfrm>
          <a:prstGeom prst="ellipse">
            <a:avLst/>
          </a:prstGeom>
          <a:solidFill>
            <a:srgbClr val="4F46E5">
              <a:alpha val="3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3291840" cy="329184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0080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8001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5087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VisionInspect AI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774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Defect Detection &amp; Quality Inspection System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computer vision platform · Internship project · Milestones 1–4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our objective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visual inspection is slow, inconsistent and hard to trace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36192"/>
            <a:ext cx="502920" cy="50292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661922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423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tire, judge differently, and records are paper-based.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46120" y="137160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536192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730" y="1661922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2900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escape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2423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detection means rework, scrap and customer returns.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536192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1661922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1792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423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data rarely feeds back into process improvement.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3337560"/>
            <a:ext cx="8229600" cy="1188720"/>
          </a:xfrm>
          <a:prstGeom prst="roundRect">
            <a:avLst>
              <a:gd name="adj" fmla="val 9231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31520" y="3383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web platform that automatically detects product defects from images, classifies them, scores their severity, makes a pass/fail decision and reports production analytics — reducing manual inspection effort and improving quality.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inspection works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automated steps, about 136 ms per image on one CPU core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737360"/>
            <a:ext cx="1280160" cy="21488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03454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1148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38912" y="251460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0175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format, size, decodable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783080" y="1737360"/>
            <a:ext cx="1280160" cy="21488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194560" y="19202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860" y="203454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82880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856232" y="251460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874520" y="30175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sharpness, exposure, noise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200400" y="1737360"/>
            <a:ext cx="1280160" cy="21488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11880" y="19202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6180" y="203454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24612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3273552" y="251460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3291840" y="30175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denoise + contrast (CLAHE)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617720" y="1737360"/>
            <a:ext cx="1280160" cy="2148840"/>
          </a:xfrm>
          <a:prstGeom prst="roundRect">
            <a:avLst>
              <a:gd name="adj" fmla="val 8571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029200" y="19202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2034540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66344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4690872" y="251460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4709160" y="30175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map + localise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035040" y="1737360"/>
            <a:ext cx="1280160" cy="2148840"/>
          </a:xfrm>
          <a:prstGeom prst="roundRect">
            <a:avLst>
              <a:gd name="adj" fmla="val 8571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446520" y="19202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2034540"/>
            <a:ext cx="228600" cy="2286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08076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6108192" y="251460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&amp; score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6126480" y="30175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+ severity 0–100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7452360" y="1737360"/>
            <a:ext cx="1280160" cy="21488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863840" y="19202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8140" y="2034540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749808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0"/>
          <p:cNvSpPr txBox="1"/>
          <p:nvPr/>
        </p:nvSpPr>
        <p:spPr>
          <a:xfrm>
            <a:off x="7525512" y="251460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300" dirty="0"/>
          </a:p>
        </p:txBody>
      </p:sp>
      <p:sp>
        <p:nvSpPr>
          <p:cNvPr id="39" name="Text 31"/>
          <p:cNvSpPr txBox="1"/>
          <p:nvPr/>
        </p:nvSpPr>
        <p:spPr>
          <a:xfrm>
            <a:off x="7543800" y="30175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review / rework / reject</a:t>
            </a:r>
            <a:endParaRPr lang="en-US" sz="1050" dirty="0"/>
          </a:p>
        </p:txBody>
      </p:sp>
      <p:sp>
        <p:nvSpPr>
          <p:cNvPr id="40" name="Text 32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is stored with the original, preprocessed, heatmap and annotated images for traceability.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pic>
        <p:nvPicPr>
          <p:cNvPr id="3" name="Image 0" descr="/home/claude/visioninspect-ai/docs/diagram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60120"/>
            <a:ext cx="7498080" cy="38606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computer-vision backend, React single-page frontend, containerised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18488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732788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508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 · Tailwind CSS · Recharts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37160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618488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173278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1508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SQLAlchemy · JWT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246888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2715768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2830068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80160" y="2606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280160" y="2926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· NumPy · scikit-learn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663440" y="246888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2715768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620" y="2830068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86400" y="2606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0" y="2926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SQLite · image store · model registry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57200" y="356616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0080" y="3813048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3927348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28016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1280160" y="4023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(engine + 15 API tests) · GitHub Actions CI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4663440" y="356616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846320" y="3813048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0620" y="3927348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48640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5486400" y="4023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Compose · nginx · AWS / Azure guides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delivered, milestone by milestone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011680" cy="35204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234440"/>
            <a:ext cx="640080" cy="36576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234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916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core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75488" y="224028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login, 3 roles (RBAC)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batch, camera simulation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validation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dashboard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MVTec AD dataset loader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097280"/>
            <a:ext cx="2011680" cy="35204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51760" y="1234440"/>
            <a:ext cx="640080" cy="36576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234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16916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&amp; detection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624328" y="224028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Denoise + CLAHE pipeline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quality report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anomaly model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 + localisation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model registry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2011680" cy="35204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234440"/>
            <a:ext cx="640080" cy="36576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234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16916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analytics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773168" y="224028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type classification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scoring (30/25/25/20)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Pass/review/rework/reject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review workflow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alerts, PDF/CSV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12280" y="1097280"/>
            <a:ext cx="2011680" cy="35204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49440" y="1234440"/>
            <a:ext cx="640080" cy="36576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1234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16916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Test, deploy, document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922008" y="224028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+ benchmark report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tests + CI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+ security hardening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AWS/Azure guide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Docs, user guide, demo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Detection: learn "normal", flag the abnormal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anomaly model trained only on defect-free images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2893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two-scale patch features (colour, contrast, gradients)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06654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normal patches with a k-cluster Gaussian mixture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84378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patch by Mahalanobis distance; threshold calibrated on held-out good parts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62102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blobs to masks → boxes, heatmap, shape features</a:t>
            </a:r>
            <a:endParaRPr lang="en-US" sz="1250" dirty="0"/>
          </a:p>
        </p:txBody>
      </p:sp>
      <p:pic>
        <p:nvPicPr>
          <p:cNvPr id="16" name="Image 0" descr="/home/claude/visioninspect-ai/docs/validation/sample_crack_origin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463040"/>
            <a:ext cx="1463040" cy="146304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4434840" y="2971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pic>
        <p:nvPicPr>
          <p:cNvPr id="18" name="Image 1" descr="/home/claude/visioninspect-ai/docs/validation/sample_crack_heatma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463040"/>
            <a:ext cx="1463040" cy="14630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989320" y="2971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heatmap</a:t>
            </a:r>
            <a:endParaRPr lang="en-US" sz="1050" dirty="0"/>
          </a:p>
        </p:txBody>
      </p:sp>
      <p:pic>
        <p:nvPicPr>
          <p:cNvPr id="20" name="Image 2" descr="/home/claude/visioninspect-ai/docs/validation/sample_crack_overlay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463040"/>
            <a:ext cx="1463040" cy="146304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543800" y="2971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+ classified</a:t>
            </a:r>
            <a:endParaRPr lang="en-US" sz="1050" dirty="0"/>
          </a:p>
        </p:txBody>
      </p:sp>
      <p:pic>
        <p:nvPicPr>
          <p:cNvPr id="22" name="Image 3" descr="/home/claude/visioninspect-ai/docs/validation/sample_hole_overlay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337560"/>
            <a:ext cx="1463040" cy="1463040"/>
          </a:xfrm>
          <a:prstGeom prst="rect">
            <a:avLst/>
          </a:prstGeom>
        </p:spPr>
      </p:pic>
      <p:pic>
        <p:nvPicPr>
          <p:cNvPr id="23" name="Image 4" descr="/home/claude/visioninspect-ai/docs/validation/sample_stain_overlay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3337560"/>
            <a:ext cx="1463040" cy="1463040"/>
          </a:xfrm>
          <a:prstGeom prst="rect">
            <a:avLst/>
          </a:prstGeom>
        </p:spPr>
      </p:pic>
      <p:pic>
        <p:nvPicPr>
          <p:cNvPr id="24" name="Image 5" descr="/home/claude/visioninspect-ai/docs/validation/sample_scratch_overlay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333756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scoring framework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score from 0–100 for every defect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38404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0" y="1325880"/>
            <a:ext cx="411480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0" y="1380744"/>
            <a:ext cx="82296" cy="4937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00600" y="1325880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1325880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80–100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040880" y="1325880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0" y="2039112"/>
            <a:ext cx="411480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2093976"/>
            <a:ext cx="82296" cy="4937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00600" y="2039112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852160" y="2039112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60–79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040880" y="203911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0" y="2752344"/>
            <a:ext cx="411480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0" y="2807208"/>
            <a:ext cx="82296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00600" y="2752344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852160" y="2752344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40–59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040880" y="2752344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572000" y="3465576"/>
            <a:ext cx="411480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0" y="3520440"/>
            <a:ext cx="82296" cy="4937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00600" y="3465576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852160" y="3465576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0–39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3465576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PASS*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0" y="4206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Low severity becomes REVIEW when any detection has &lt; 70% confidence.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example 85/90/95/92 computes to 90.2 (brief prints 88) — still Critical.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defect detection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synthetic test set — 270 images, 3 product categories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288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90.6%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385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defective parts detected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18288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" y="2560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90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1272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parts wrongly flagged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18288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7200" y="3749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136 ms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159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per image (1 CPU core)</a:t>
            </a:r>
            <a:endParaRPr lang="en-US" sz="10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2514600" y="1188720"/>
          <a:ext cx="62179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defect-type classification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classifier on texture-independent features</a:t>
            </a:r>
            <a:endParaRPr lang="en-US" sz="1300" dirty="0"/>
          </a:p>
        </p:txBody>
      </p:sp>
      <p:pic>
        <p:nvPicPr>
          <p:cNvPr id="4" name="Image 0" descr="/home/claude/visioninspect-ai/docs/validation/fig_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5120640" cy="2944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1234440"/>
            <a:ext cx="30175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760720" y="12984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 → 88%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897880" y="1920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accuracy among detected defects, before vs after Milestone-4 feature work (held-out data)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26974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Hole: 100%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Crack: 97%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Scratch: 83%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Stain: 75%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Dent: 44%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4114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Weakest: dents (low contrast). Next step: supervised classifier on real labelled defects.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performance optimisation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tests: severity formula, validation, decisions, classifier, train → evaluate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end-to-end API tests: auth, RBAC, rate limit, upload, batch, camera, review, PDF, CSV, analytics, training jobs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script reproduces every figure in the report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CI: pytest + frontend build + Docker build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Optimisation &amp; hardening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459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loading removes N+1 queries in lists and analytics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GZip, asset caching, route-level code splitting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Thread-pooled batch inference (gain needs multi-core hardware; none measured on 1 core)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throttling, security headers, PBKDF2 hashing, audit trail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Roles, security &amp; audit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enforced on every API route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36192"/>
            <a:ext cx="502920" cy="50292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661922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45059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roles, audit trail, models, review, delete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46120" y="13716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536192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730" y="1661922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2900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Engineer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245059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Inspect, dataset &amp; model training, analytics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536192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1661922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1792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Supervisor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45059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Inspect, review &amp; approve decisions, analytics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3383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· PBKDF2 password hashing (210k iterations)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throttling · upload allow-list &amp; size limits · authenticated image access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trail: logins, inspections, reviews, model changes, user changes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locally, same containers in the cloud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828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app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1691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606040" y="1371600"/>
            <a:ext cx="1828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60604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1920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files + /api proxy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1691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1828800" cy="1188720"/>
          </a:xfrm>
          <a:prstGeom prst="roundRect">
            <a:avLst>
              <a:gd name="adj" fmla="val 9231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5488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920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pipeline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1691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903720" y="1371600"/>
            <a:ext cx="1828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90372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1920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volumes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40233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2918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checks, restart policy, named volumes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834640"/>
            <a:ext cx="40233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84632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Azure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2918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or Azure VM + Docker Compose (documented)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path: RDS / S3, ECS or Container Apps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in DEPLOYMENT_GUIDE.md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know, and what comes next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synthetic data, not real MVTec AD yet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Low-contrast defects (dents) are the weakest case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is rule-based; thresholds tuned on synthetic data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score assumes a centre "functional zone"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run in-process (single instance)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78308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on real MVTec AD categories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model (PatchCore / U-Net / YOLO) behind the same interface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defect classifier on labelled data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queue (Celery/Redis) + object storage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Per-product critical-zone masks, MES/PLC integration, e-mail/SMS alerts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4572000" cy="4572000"/>
          </a:xfrm>
          <a:prstGeom prst="ellipse">
            <a:avLst/>
          </a:prstGeom>
          <a:solidFill>
            <a:srgbClr val="4F46E5">
              <a:alpha val="3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VisionInspect AI — catching defects before they leave the line.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90.6% detected</a:t>
            </a:r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0/90 false alarms</a:t>
            </a:r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 ms / image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VisionInspect AI</dc:title>
  <dc:subject>PptxGenJS Presentation</dc:subject>
  <dc:creator>Internship project</dc:creator>
  <cp:lastModifiedBy>Internship project</cp:lastModifiedBy>
  <cp:revision>1</cp:revision>
  <dcterms:created xsi:type="dcterms:W3CDTF">2026-10-02T05:19:14Z</dcterms:created>
  <dcterms:modified xsi:type="dcterms:W3CDTF">2026-10-02T05:19:14Z</dcterms:modified>
</cp:coreProperties>
</file>